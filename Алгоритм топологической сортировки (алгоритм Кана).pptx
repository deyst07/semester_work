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B2988-4857-4471-B217-D6B9F81E1520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8B5EE-B5D6-4D41-A733-35F319AA75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Здравствуйте.</a:t>
            </a:r>
          </a:p>
          <a:p>
            <a:r>
              <a:rPr lang="ru-RU" dirty="0"/>
              <a:t>В данной работе рассматривается алгоритм топологической сортировки ориентированного ациклического графа, а именно алгоритм Кана.</a:t>
            </a:r>
          </a:p>
          <a:p>
            <a:r>
              <a:rPr lang="ru-RU" dirty="0"/>
              <a:t>В рамках семестровой работы была реализована программа на языке Python, проведено экспериментальное исследование сложности алгоритма, а также выполнено сравнение теоретических и экспериментальных результатов.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861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Топологическая сортировка — это способ упорядочивания вершин ориентированного ациклического графа таким образом, чтобы каждая вершина располагалась раньше всех вершин, в которые из неё ведут рёбра.</a:t>
            </a:r>
          </a:p>
          <a:p>
            <a:r>
              <a:rPr lang="ru-RU" dirty="0"/>
              <a:t>Другими словами, если существует ребро из вершины A в вершину B, то вершина A должна находиться раньше вершины B в результирующем порядке.</a:t>
            </a:r>
          </a:p>
          <a:p>
            <a:r>
              <a:rPr lang="ru-RU" dirty="0"/>
              <a:t>Такая сортировка применяется в задачах планирования и анализа зависимостей.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88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топологической сортировки, используемый в данной работе, был предложен Артуром Каном в 1962 году.</a:t>
            </a:r>
          </a:p>
          <a:p>
            <a:r>
              <a:rPr lang="ru-RU" dirty="0"/>
              <a:t>Он применяется для упорядочивания задач с зависимостями, например при планировании выполнения проектов, построении учебных планов и анализе зависимостей программных модулей.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41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Кана работает следующим образом.</a:t>
            </a:r>
          </a:p>
          <a:p>
            <a:r>
              <a:rPr lang="ru-RU" dirty="0"/>
              <a:t>Сначала вычисляется входящая степень каждой вершины графа.</a:t>
            </a:r>
          </a:p>
          <a:p>
            <a:r>
              <a:rPr lang="ru-RU" dirty="0"/>
              <a:t>Затем выбираются вершины, не имеющие входящих рёбер, и добавляются в очередь.</a:t>
            </a:r>
          </a:p>
          <a:p>
            <a:r>
              <a:rPr lang="ru-RU" dirty="0"/>
              <a:t>После этого такие вершины последовательно удаляются из графа, а входящие степени соседних вершин уменьшаются.</a:t>
            </a:r>
          </a:p>
          <a:p>
            <a:r>
              <a:rPr lang="ru-RU" dirty="0"/>
              <a:t>Процесс повторяется до тех пор, пока не будут обработаны все вершины графа.</a:t>
            </a:r>
          </a:p>
          <a:p>
            <a:r>
              <a:rPr lang="ru-RU" dirty="0"/>
              <a:t>Если остаются необработанные вершины, значит граф содержит цикл.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86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применяется только для ориентированных ациклических графов.</a:t>
            </a:r>
          </a:p>
          <a:p>
            <a:r>
              <a:rPr lang="ru-RU" dirty="0"/>
              <a:t>Он использует очередь для хранения вершин без входящих рёбер.</a:t>
            </a:r>
          </a:p>
          <a:p>
            <a:r>
              <a:rPr lang="ru-RU" dirty="0"/>
              <a:t>Также алгоритм позволяет определить наличие циклов в графе.</a:t>
            </a:r>
          </a:p>
          <a:p>
            <a:r>
              <a:rPr lang="ru-RU" dirty="0"/>
              <a:t>Кроме того, он имеет линейную временную сложность относительно размера графа.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20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Оценим временную сложность алгоритма Кана.</a:t>
            </a:r>
          </a:p>
          <a:p>
            <a:r>
              <a:rPr lang="ru-RU" dirty="0"/>
              <a:t>Подсчёт входящих степеней вершин требует времени порядка O от E, где E — количество рёбер графа.</a:t>
            </a:r>
          </a:p>
          <a:p>
            <a:r>
              <a:rPr lang="ru-RU" dirty="0"/>
              <a:t>Поиск вершин без входящих рёбер требует времени порядка O от V, где V — количество вершин.</a:t>
            </a:r>
          </a:p>
          <a:p>
            <a:r>
              <a:rPr lang="ru-RU" dirty="0"/>
              <a:t>Основной цикл обработки очереди требует времени порядка O от V плюс E.</a:t>
            </a:r>
          </a:p>
          <a:p>
            <a:r>
              <a:rPr lang="ru-RU" dirty="0"/>
              <a:t>Таким образом, итоговая временная сложность алгоритма составляет O от V плюс E.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869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проведения эксперимента использовались случайно сгенерированные ориентированные ациклические графы.</a:t>
            </a:r>
          </a:p>
          <a:p>
            <a:r>
              <a:rPr lang="ru-RU" dirty="0"/>
              <a:t>Количество вершин варьировалось от 100 до 10000.</a:t>
            </a:r>
          </a:p>
          <a:p>
            <a:r>
              <a:rPr lang="ru-RU" dirty="0"/>
              <a:t>Рёбра добавлялись с вероятностью 0.02.</a:t>
            </a:r>
          </a:p>
          <a:p>
            <a:r>
              <a:rPr lang="ru-RU" dirty="0"/>
              <a:t>Всего было сгенерировано 50 наборов входных данных.</a:t>
            </a:r>
          </a:p>
          <a:p>
            <a:r>
              <a:rPr lang="ru-RU" dirty="0"/>
              <a:t>Графы считывались из файлов перед выполнением алгоритма, при этом время чтения файлов не учитывалось при измерении времени работы алгоритма.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253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таблице представлены экспериментальные результаты измерения времени выполнения алгоритма и количества итераций в зависимости от размера входного графа.</a:t>
            </a:r>
          </a:p>
          <a:p>
            <a:r>
              <a:rPr lang="ru-RU" dirty="0"/>
              <a:t>Полная таблица результатов приведена в файле с результатами измерений.</a:t>
            </a:r>
          </a:p>
          <a:p>
            <a:r>
              <a:rPr lang="ru-RU" dirty="0"/>
              <a:t>На основе этих данных были построены графики зависимости времени выполнения и количества итераций от размера графа.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15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представлены графики зависимости времени выполнения алгоритма и количества итераций от числа вершин графа.</a:t>
            </a:r>
          </a:p>
          <a:p>
            <a:r>
              <a:rPr lang="ru-RU" dirty="0"/>
              <a:t>Из графика видно, что время выполнения алгоритма возрастает с увеличением размера входных данных.</a:t>
            </a:r>
          </a:p>
          <a:p>
            <a:r>
              <a:rPr lang="ru-RU" dirty="0"/>
              <a:t>График количества итераций показывает более плавную зависимость, близкую к квадратичной.</a:t>
            </a:r>
          </a:p>
          <a:p>
            <a:r>
              <a:rPr lang="ru-RU" dirty="0"/>
              <a:t>Это связано с тем, что количество рёбер в случайных графах пропорционально квадрату числа вершин.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876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Теоретическая сложность алгоритма составляет O от V плюс E.</a:t>
            </a:r>
          </a:p>
          <a:p>
            <a:r>
              <a:rPr lang="ru-RU" dirty="0"/>
              <a:t>Однако в используемой модели случайных графов количество рёбер приблизительно пропорционально квадрату числа вершин.</a:t>
            </a:r>
          </a:p>
          <a:p>
            <a:r>
              <a:rPr lang="ru-RU" dirty="0"/>
              <a:t>Поэтому экспериментально наблюдается зависимость, близкая к O от V в квадрате.</a:t>
            </a:r>
          </a:p>
          <a:p>
            <a:r>
              <a:rPr lang="ru-RU" dirty="0"/>
              <a:t>Полученные экспериментальные результаты подтверждают теоретическую оценку сложности алгоритма.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794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топологической сортировки применяется при решении задач планирования выполнения зависимых процессов.</a:t>
            </a:r>
          </a:p>
          <a:p>
            <a:r>
              <a:rPr lang="ru-RU" dirty="0"/>
              <a:t>Например, он используется при построении порядка сборки программных проектов, анализе зависимостей библиотек, формировании учебных планов и управлении задачами в проектах.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40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преимуществам алгоритма относятся простота реализации, высокая эффективность и возможность обнаружения циклов в графе.</a:t>
            </a:r>
          </a:p>
          <a:p>
            <a:r>
              <a:rPr lang="ru-RU" dirty="0"/>
              <a:t>К недостаткам относится то, что алгоритм применяется только к ориентированным ациклическим графам.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001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Исходный код программы, генератор входных данных и результаты экспериментов размещены в репозитории проекта.</a:t>
            </a:r>
          </a:p>
          <a:p>
            <a:r>
              <a:rPr lang="ru-RU" dirty="0"/>
              <a:t>Спасибо за внимание.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8B5EE-B5D6-4D41-A733-35F319AA75C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08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87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02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04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0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82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3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41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08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70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16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6392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729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9124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186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256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08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C2D2C-6EE1-4C82-9004-CDEEE940DB16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4E0AF1A-F6A7-4C23-9C88-7B098511CE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31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yst07/semester_wor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5FF8D-E8F3-7173-FE6F-F5E5A59A5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627632"/>
            <a:ext cx="8460187" cy="2423204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топологической сортировки (алгоритм Кана)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1AF06C-5429-5403-7ADC-0F9A89417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Чайников Никита 11-511</a:t>
            </a:r>
          </a:p>
        </p:txBody>
      </p:sp>
    </p:spTree>
    <p:extLst>
      <p:ext uri="{BB962C8B-B14F-4D97-AF65-F5344CB8AC3E}">
        <p14:creationId xmlns:p14="http://schemas.microsoft.com/office/powerpoint/2010/main" val="281474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02C81-EF4E-E147-487D-FFE87391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ru-RU" dirty="0"/>
              <a:t>Топологическая сортировка графа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13805-912B-2571-90CF-61271E092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dirty="0"/>
              <a:t>Топологическая сортировка — это упорядочивание вершин ориентированного ациклического графа (</a:t>
            </a:r>
            <a:r>
              <a:rPr lang="en-US" dirty="0"/>
              <a:t>directed acyclic graph</a:t>
            </a:r>
            <a:r>
              <a:rPr lang="ru-RU" dirty="0"/>
              <a:t>), при котором каждая вершина располагается раньше всех вершин, в которые из неё ведут рёбра.</a:t>
            </a:r>
          </a:p>
          <a:p>
            <a:pPr marL="0" indent="457200" algn="just">
              <a:buNone/>
            </a:pPr>
            <a:r>
              <a:rPr lang="ru-RU" dirty="0"/>
              <a:t>Например</a:t>
            </a:r>
            <a:r>
              <a:rPr lang="en-US" dirty="0"/>
              <a:t>:</a:t>
            </a:r>
            <a:r>
              <a:rPr lang="ru-RU" dirty="0"/>
              <a:t> A → B означает A выполняется раньше B</a:t>
            </a:r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6382E8B-ACC6-D4B1-BD06-2C4A06C5A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4824" y="1930400"/>
            <a:ext cx="4204989" cy="373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02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4754F-7E6D-05A1-79F9-205FFBF2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справка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9AAD7-BF8A-9391-CCDA-4F0EE7CAD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7200" algn="just">
              <a:buNone/>
            </a:pPr>
            <a:r>
              <a:rPr lang="ru-RU" dirty="0"/>
              <a:t>Алгоритм топологической сортировки был предложен Артуром Каном в 1962 году.</a:t>
            </a:r>
          </a:p>
          <a:p>
            <a:pPr marL="0" indent="457200" algn="just">
              <a:buNone/>
            </a:pPr>
            <a:r>
              <a:rPr lang="ru-RU" dirty="0"/>
              <a:t>Алгоритм используется для упорядочивания задач с зависимостями, например:</a:t>
            </a:r>
          </a:p>
          <a:p>
            <a:pPr algn="just"/>
            <a:r>
              <a:rPr lang="ru-RU" dirty="0"/>
              <a:t>планирование выполнения задач</a:t>
            </a:r>
          </a:p>
          <a:p>
            <a:pPr algn="just"/>
            <a:r>
              <a:rPr lang="ru-RU" dirty="0"/>
              <a:t>порядок сборки программ</a:t>
            </a:r>
          </a:p>
          <a:p>
            <a:pPr algn="just"/>
            <a:r>
              <a:rPr lang="ru-RU" dirty="0"/>
              <a:t>анализ зависимостей модулей</a:t>
            </a:r>
          </a:p>
          <a:p>
            <a:pPr algn="just"/>
            <a:r>
              <a:rPr lang="ru-RU" dirty="0"/>
              <a:t>учебные планы дисциплин</a:t>
            </a:r>
          </a:p>
        </p:txBody>
      </p:sp>
    </p:spTree>
    <p:extLst>
      <p:ext uri="{BB962C8B-B14F-4D97-AF65-F5344CB8AC3E}">
        <p14:creationId xmlns:p14="http://schemas.microsoft.com/office/powerpoint/2010/main" val="136939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10ADB-994C-7713-335B-422C58B1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алгоритма Кана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C3032-9910-7B75-39B1-A991F2CC3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Алгоритм выполняет следующие шаги:</a:t>
            </a:r>
          </a:p>
          <a:p>
            <a:pPr>
              <a:buFont typeface="+mj-lt"/>
              <a:buAutoNum type="arabicPeriod"/>
            </a:pPr>
            <a:r>
              <a:rPr lang="ru-RU" dirty="0"/>
              <a:t>Подсчитать входящую степень каждой вершины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Найти вершины без входящих рёбер</a:t>
            </a:r>
          </a:p>
          <a:p>
            <a:pPr>
              <a:buFont typeface="+mj-lt"/>
              <a:buAutoNum type="arabicPeriod"/>
            </a:pPr>
            <a:r>
              <a:rPr lang="ru-RU" dirty="0"/>
              <a:t>Добавить их в очередь</a:t>
            </a:r>
          </a:p>
          <a:p>
            <a:pPr>
              <a:buFont typeface="+mj-lt"/>
              <a:buAutoNum type="arabicPeriod"/>
            </a:pPr>
            <a:r>
              <a:rPr lang="ru-RU" dirty="0"/>
              <a:t>Удалить их из графа</a:t>
            </a:r>
          </a:p>
          <a:p>
            <a:pPr>
              <a:buFont typeface="+mj-lt"/>
              <a:buAutoNum type="arabicPeriod"/>
            </a:pPr>
            <a:r>
              <a:rPr lang="ru-RU" dirty="0"/>
              <a:t>Повторять процесс до обработки всех вершин</a:t>
            </a:r>
          </a:p>
          <a:p>
            <a:pPr marL="0" indent="0">
              <a:buNone/>
            </a:pPr>
            <a:r>
              <a:rPr lang="ru-RU" dirty="0"/>
              <a:t>Если остаются необработанные вершины — граф содержит цикл</a:t>
            </a:r>
          </a:p>
        </p:txBody>
      </p:sp>
    </p:spTree>
    <p:extLst>
      <p:ext uri="{BB962C8B-B14F-4D97-AF65-F5344CB8AC3E}">
        <p14:creationId xmlns:p14="http://schemas.microsoft.com/office/powerpoint/2010/main" val="101592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CE73C-6E9B-9855-E32E-FAAD2BFD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алгоритма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2B47D6-BEE7-E99C-9DB8-E41EADB9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Применяется только к ориентированным ациклическим графам</a:t>
            </a:r>
          </a:p>
          <a:p>
            <a:r>
              <a:rPr lang="ru-RU" dirty="0"/>
              <a:t>Использует очередь</a:t>
            </a:r>
          </a:p>
          <a:p>
            <a:r>
              <a:rPr lang="ru-RU" dirty="0"/>
              <a:t>Работает за линейное время относительно размера графа</a:t>
            </a:r>
          </a:p>
          <a:p>
            <a:r>
              <a:rPr lang="ru-RU" dirty="0"/>
              <a:t>Позволяет обнаруживать циклы в графе</a:t>
            </a:r>
          </a:p>
        </p:txBody>
      </p:sp>
    </p:spTree>
    <p:extLst>
      <p:ext uri="{BB962C8B-B14F-4D97-AF65-F5344CB8AC3E}">
        <p14:creationId xmlns:p14="http://schemas.microsoft.com/office/powerpoint/2010/main" val="156713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CDE98-5301-6D3E-15F4-D098DE94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временной сложности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D9E3F9-D8A8-B448-7D22-C07943BE0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Подсчёт входящих степеней, проходимся по каждому ребру: O(E)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Поиск вершин без входящих рёбер, проходимся по каждой вершине: O(V)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Обработка очереди: O(V + E)</a:t>
            </a:r>
          </a:p>
          <a:p>
            <a:pPr marL="0" indent="0">
              <a:buNone/>
            </a:pPr>
            <a:r>
              <a:rPr lang="ru-RU" dirty="0"/>
              <a:t>                    + </a:t>
            </a:r>
          </a:p>
          <a:p>
            <a:r>
              <a:rPr lang="ru-RU" dirty="0"/>
              <a:t>Итоговая сложность. Суммируем и убираем константы: </a:t>
            </a:r>
          </a:p>
          <a:p>
            <a:pPr marL="0" indent="0">
              <a:buNone/>
            </a:pPr>
            <a:r>
              <a:rPr lang="en-US" dirty="0"/>
              <a:t>O(E) + O(V) + </a:t>
            </a:r>
            <a:r>
              <a:rPr lang="ru-RU" dirty="0"/>
              <a:t>O(V + E)</a:t>
            </a:r>
            <a:r>
              <a:rPr lang="en-US" dirty="0"/>
              <a:t> = O(V+E)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EEE946-A03E-A477-449F-B93A9766C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92" y="2493222"/>
            <a:ext cx="2500316" cy="5480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860055-9311-30BB-8DA1-506138699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93" y="3271426"/>
            <a:ext cx="1750508" cy="5743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862772-522F-1717-1A1E-91060497B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92" y="4110500"/>
            <a:ext cx="1257475" cy="4382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60C064-F075-5715-752F-A9F44623C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632" y="4129552"/>
            <a:ext cx="2514951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88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23722-9ABA-B21E-AC50-823B2DB4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AD0B-7DE8-A97A-84D8-1258466EF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Для эксперимента использовались случайно сгенерированные</a:t>
            </a:r>
          </a:p>
          <a:p>
            <a:pPr marL="0" indent="0">
              <a:buNone/>
            </a:pPr>
            <a:r>
              <a:rPr lang="ru-RU" dirty="0"/>
              <a:t>ориентированные ациклические графы.</a:t>
            </a:r>
          </a:p>
          <a:p>
            <a:r>
              <a:rPr lang="ru-RU" dirty="0"/>
              <a:t>Количество вершин:</a:t>
            </a:r>
            <a:r>
              <a:rPr lang="en-US" dirty="0"/>
              <a:t> </a:t>
            </a:r>
            <a:r>
              <a:rPr lang="ru-RU" dirty="0"/>
              <a:t>от 100 до 10000</a:t>
            </a:r>
          </a:p>
          <a:p>
            <a:r>
              <a:rPr lang="ru-RU" dirty="0"/>
              <a:t>Рёбра добавлялись с вероятностью:</a:t>
            </a:r>
            <a:r>
              <a:rPr lang="en-US" dirty="0"/>
              <a:t> </a:t>
            </a:r>
            <a:r>
              <a:rPr lang="ru-RU" dirty="0"/>
              <a:t>p = 0.02</a:t>
            </a:r>
          </a:p>
          <a:p>
            <a:r>
              <a:rPr lang="ru-RU" dirty="0"/>
              <a:t>Количество наборов данных:</a:t>
            </a:r>
            <a:r>
              <a:rPr lang="en-US" dirty="0"/>
              <a:t> </a:t>
            </a:r>
            <a:r>
              <a:rPr lang="ru-RU" dirty="0"/>
              <a:t>50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ru-RU" dirty="0"/>
              <a:t>графы считывались из файлов перед запуском алгоритма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835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3FB23-5850-4128-9CA1-DA65347C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CDBD1-86CF-73F0-3E31-5AB1FD28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056466" cy="388077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Полная таблица в файлах</a:t>
            </a:r>
            <a:r>
              <a:rPr lang="en-US" dirty="0"/>
              <a:t>: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Графики</a:t>
            </a:r>
            <a:r>
              <a:rPr lang="en-US" dirty="0"/>
              <a:t>.xlsx, results.csv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4ED28A1-C1AC-8492-1DE4-EEECB191C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1429012"/>
            <a:ext cx="5418666" cy="53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7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E1835-F7A2-D4C8-AC6F-024915FC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времени и количества итераций от размера графа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905DB7-6606-0DE7-A21E-CE8874E99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5" y="2143127"/>
            <a:ext cx="4383933" cy="38069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882C9D-6A26-3DCF-636D-DD26A0767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687" y="2143127"/>
            <a:ext cx="4398227" cy="38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9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37629-55F6-EF99-1426-D82201D2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экспериментальной и теоретической сложности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73B8F-666C-DF2C-112F-35E64CA10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31991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Теоретическая сложность алгоритма: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O(V + E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случайных графах: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E ≈ p · V²</a:t>
            </a:r>
          </a:p>
          <a:p>
            <a:pPr marL="0" indent="0">
              <a:buNone/>
            </a:pPr>
            <a:r>
              <a:rPr lang="ru-RU" dirty="0"/>
              <a:t>Поэтому экспериментально наблюдается зависимость:</a:t>
            </a:r>
            <a:r>
              <a:rPr lang="en-US" dirty="0"/>
              <a:t> </a:t>
            </a:r>
            <a:r>
              <a:rPr lang="ru-RU" dirty="0"/>
              <a:t>O(V²)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0D5BC0-3CC9-07C6-5CA2-EDA4CA4A1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246" y="1798140"/>
            <a:ext cx="5276756" cy="460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0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218D7-774E-9E27-47DF-55265533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 алгоритма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45CF1B-FCD1-0341-CC66-BC5B651F1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Алгоритм используется для:</a:t>
            </a:r>
          </a:p>
          <a:p>
            <a:r>
              <a:rPr lang="ru-RU" dirty="0"/>
              <a:t>планирования задач</a:t>
            </a:r>
          </a:p>
          <a:p>
            <a:r>
              <a:rPr lang="ru-RU" dirty="0"/>
              <a:t>определения порядка сборки программ</a:t>
            </a:r>
          </a:p>
          <a:p>
            <a:r>
              <a:rPr lang="ru-RU" dirty="0"/>
              <a:t>анализа зависимостей библиотек</a:t>
            </a:r>
          </a:p>
          <a:p>
            <a:r>
              <a:rPr lang="ru-RU" dirty="0"/>
              <a:t>построения учебных планов</a:t>
            </a:r>
          </a:p>
          <a:p>
            <a:r>
              <a:rPr lang="ru-RU" dirty="0"/>
              <a:t>анализа зависимостей в проектах</a:t>
            </a:r>
          </a:p>
        </p:txBody>
      </p:sp>
    </p:spTree>
    <p:extLst>
      <p:ext uri="{BB962C8B-B14F-4D97-AF65-F5344CB8AC3E}">
        <p14:creationId xmlns:p14="http://schemas.microsoft.com/office/powerpoint/2010/main" val="407832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22F49-8889-36B0-050E-16CA84EA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DFE553-3BC5-1CB0-490D-FFB7C495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154002" cy="22285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Плюсы</a:t>
            </a:r>
            <a:r>
              <a:rPr lang="en-US" dirty="0"/>
              <a:t>:</a:t>
            </a:r>
          </a:p>
          <a:p>
            <a:r>
              <a:rPr lang="ru-RU" dirty="0"/>
              <a:t>простая реализация</a:t>
            </a:r>
          </a:p>
          <a:p>
            <a:r>
              <a:rPr lang="ru-RU" dirty="0"/>
              <a:t>высокая эффективность</a:t>
            </a:r>
          </a:p>
          <a:p>
            <a:r>
              <a:rPr lang="ru-RU" dirty="0"/>
              <a:t>линейная сложность</a:t>
            </a:r>
          </a:p>
          <a:p>
            <a:r>
              <a:rPr lang="ru-RU" dirty="0"/>
              <a:t>обнаруживает циклы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2CA733-6EBD-D226-EB8A-55D768833FCD}"/>
              </a:ext>
            </a:extLst>
          </p:cNvPr>
          <p:cNvSpPr txBox="1">
            <a:spLocks/>
          </p:cNvSpPr>
          <p:nvPr/>
        </p:nvSpPr>
        <p:spPr>
          <a:xfrm>
            <a:off x="4518999" y="2160589"/>
            <a:ext cx="3154002" cy="2228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dirty="0"/>
              <a:t>Минусы</a:t>
            </a:r>
            <a:r>
              <a:rPr lang="en-US" dirty="0"/>
              <a:t>:</a:t>
            </a:r>
          </a:p>
          <a:p>
            <a:r>
              <a:rPr lang="ru-RU" dirty="0"/>
              <a:t>работает только для DAG</a:t>
            </a:r>
          </a:p>
        </p:txBody>
      </p:sp>
    </p:spTree>
    <p:extLst>
      <p:ext uri="{BB962C8B-B14F-4D97-AF65-F5344CB8AC3E}">
        <p14:creationId xmlns:p14="http://schemas.microsoft.com/office/powerpoint/2010/main" val="334177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38C6B-7154-0C8B-F079-6B873063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Репозиторий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9C8AC-4C38-5C38-55B1-2BD89B07D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https://github.com/deyst07/semester_work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85028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999</Words>
  <Application>Microsoft Office PowerPoint</Application>
  <PresentationFormat>Широкоэкранный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Аспект</vt:lpstr>
      <vt:lpstr>Алгоритм топологической сортировки (алгоритм Кана)</vt:lpstr>
      <vt:lpstr>Топологическая сортировка графа</vt:lpstr>
      <vt:lpstr>Историческая справка</vt:lpstr>
      <vt:lpstr>Принцип работы алгоритма Кана</vt:lpstr>
      <vt:lpstr>Особенности алгоритма</vt:lpstr>
      <vt:lpstr>Оценка временной сложности</vt:lpstr>
      <vt:lpstr>Входные данные</vt:lpstr>
      <vt:lpstr>Таблица результатов</vt:lpstr>
      <vt:lpstr>Зависимость времени и количества итераций от размера графа</vt:lpstr>
      <vt:lpstr>Сравнение экспериментальной и теоретической сложности</vt:lpstr>
      <vt:lpstr>Применимость алгоритма</vt:lpstr>
      <vt:lpstr>Преимущества и недостатки</vt:lpstr>
      <vt:lpstr>Репозиторий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wonderful dreams</dc:creator>
  <cp:lastModifiedBy>wonderful dreams</cp:lastModifiedBy>
  <cp:revision>1</cp:revision>
  <dcterms:created xsi:type="dcterms:W3CDTF">2026-04-25T11:24:08Z</dcterms:created>
  <dcterms:modified xsi:type="dcterms:W3CDTF">2026-04-25T12:27:10Z</dcterms:modified>
</cp:coreProperties>
</file>